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73" r:id="rId3"/>
    <p:sldId id="277" r:id="rId4"/>
    <p:sldId id="275" r:id="rId5"/>
    <p:sldId id="278" r:id="rId6"/>
    <p:sldId id="27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5"/>
    <p:sldId id="280" r:id="rId16"/>
    <p:sldId id="269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58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72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70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088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59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7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6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956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746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66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712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03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056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3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595416-0AAE-499A-A194-2104C908AD4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0B75867-0AE6-4D41-A83D-7461658C6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2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829340"/>
            <a:ext cx="8825658" cy="2562446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Result analysis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FROM 2012 TO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31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SCHOOL PERFOMANCE SINCE 2012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094893"/>
              </p:ext>
            </p:extLst>
          </p:nvPr>
        </p:nvGraphicFramePr>
        <p:xfrm>
          <a:off x="1001335" y="1485735"/>
          <a:ext cx="8647161" cy="4892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9264"/>
                <a:gridCol w="1213498"/>
                <a:gridCol w="1096798"/>
                <a:gridCol w="1318791"/>
                <a:gridCol w="1650463"/>
                <a:gridCol w="2238347"/>
              </a:tblGrid>
              <a:tr h="6131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YEAR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NO. WROTE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NO. PASS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%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BACHELORS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DISTINCTIONS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2012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42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r>
                        <a:rPr lang="en-ZA" sz="2000" b="1" dirty="0" smtClean="0">
                          <a:effectLst/>
                        </a:rPr>
                        <a:t>24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57.14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12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2013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31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r>
                        <a:rPr lang="en-ZA" sz="2000" b="1" dirty="0" smtClean="0">
                          <a:effectLst/>
                        </a:rPr>
                        <a:t>28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90.3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24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2014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66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r>
                        <a:rPr lang="en-ZA" sz="2000" b="1" dirty="0" smtClean="0">
                          <a:effectLst/>
                        </a:rPr>
                        <a:t>47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72.27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63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2015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124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37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2016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137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68/81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45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17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24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2017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131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88/43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67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32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50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2018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128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83/43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64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33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78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2019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121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102/19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84.3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58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48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2020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164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134/29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82.2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70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2021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168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139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82.7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78 (46)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109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2022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167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154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94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63(41)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88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2023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6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</a:rPr>
                        <a:t>2024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r>
                        <a:rPr lang="en-ZA" sz="2000" b="1" dirty="0" smtClean="0">
                          <a:effectLst/>
                        </a:rPr>
                        <a:t>145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</a:rPr>
                        <a:t>141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</a:rPr>
                        <a:t>97,2%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</a:rPr>
                        <a:t>104 ( 72%)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-4966139" y="-83349"/>
            <a:ext cx="20432373" cy="62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16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916" y="372140"/>
            <a:ext cx="11119884" cy="762978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PERFORMANCE </a:t>
            </a:r>
            <a:r>
              <a:rPr lang="en-US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2012 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707303"/>
              </p:ext>
            </p:extLst>
          </p:nvPr>
        </p:nvGraphicFramePr>
        <p:xfrm>
          <a:off x="504498" y="1403129"/>
          <a:ext cx="11035860" cy="4808482"/>
        </p:xfrm>
        <a:graphic>
          <a:graphicData uri="http://schemas.openxmlformats.org/drawingml/2006/table">
            <a:tbl>
              <a:tblPr firstRow="1" firstCol="1" bandRow="1"/>
              <a:tblGrid>
                <a:gridCol w="1444882"/>
                <a:gridCol w="673240"/>
                <a:gridCol w="703384"/>
                <a:gridCol w="663192"/>
                <a:gridCol w="713433"/>
                <a:gridCol w="663191"/>
                <a:gridCol w="733529"/>
                <a:gridCol w="703385"/>
                <a:gridCol w="753626"/>
                <a:gridCol w="803869"/>
                <a:gridCol w="783771"/>
                <a:gridCol w="756745"/>
                <a:gridCol w="772510"/>
                <a:gridCol w="867103"/>
              </a:tblGrid>
              <a:tr h="6869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SUBJECT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9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ISIZULU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9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ENGLISH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99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98.6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97.3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9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9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MATHS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64.9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64.1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46.6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9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MATHLIT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55.6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70.7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9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PHSC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93.3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89.7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79.4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05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338" y="365125"/>
            <a:ext cx="10502462" cy="817289"/>
          </a:xfrm>
        </p:spPr>
        <p:txBody>
          <a:bodyPr/>
          <a:lstStyle/>
          <a:p>
            <a:r>
              <a:rPr lang="en-US" dirty="0" smtClean="0"/>
              <a:t>SUBJECT PERFORMANCE 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20262" y="1453660"/>
          <a:ext cx="11177752" cy="4309954"/>
        </p:xfrm>
        <a:graphic>
          <a:graphicData uri="http://schemas.openxmlformats.org/drawingml/2006/table">
            <a:tbl>
              <a:tblPr firstRow="1" firstCol="1" bandRow="1"/>
              <a:tblGrid>
                <a:gridCol w="1340069"/>
                <a:gridCol w="693683"/>
                <a:gridCol w="772510"/>
                <a:gridCol w="693683"/>
                <a:gridCol w="693683"/>
                <a:gridCol w="725213"/>
                <a:gridCol w="677918"/>
                <a:gridCol w="772510"/>
                <a:gridCol w="788276"/>
                <a:gridCol w="835572"/>
                <a:gridCol w="819807"/>
                <a:gridCol w="788276"/>
                <a:gridCol w="788276"/>
                <a:gridCol w="788276"/>
              </a:tblGrid>
              <a:tr h="6396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ZA" sz="16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SUBJECTS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2012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2013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2015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2016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2017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6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TRSM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97.7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8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GEO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66</a:t>
                      </a: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93.3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1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LFSC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93.9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94.8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1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BSTD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60.6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92.3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80.5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86,4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1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6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ECON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66.7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96.2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78.8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93.1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8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6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88.5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79.3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7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HISTORY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97.7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8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AGRIC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87</a:t>
                      </a: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01,1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92.3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ZA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05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82677"/>
          </a:xfrm>
        </p:spPr>
        <p:txBody>
          <a:bodyPr/>
          <a:lstStyle/>
          <a:p>
            <a:r>
              <a:rPr lang="en-US" dirty="0" smtClean="0"/>
              <a:t>TOP LEARNERS SINCE 2012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3620"/>
            <a:ext cx="8946541" cy="467478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1400" dirty="0" smtClean="0"/>
              <a:t>2012 	:	DR NTANDOYENKOSI NGUBANE ( ICC)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2013 	:	NKANYISO MTHEMBU ( LAB )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2014	: 	KHULEKAI NDABANDABA   ( PHAMARCIST )	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2015 	: 	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2016 	: 	NKULULEKO NYAWO  ( BIOLOGIST HN DERGEE, MASTERS)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2017 	:  	CHILIZA  SIPHO 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2018 	: 	DR MTHOKOZISI NGWANE ( ICC)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2019 	: 	DR SIHLE NGUBANE 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2020	: 	ZIKHALI THEMBA 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2021 	: 	SNENHLANHLA MHLONGO 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2022:		ASANDE SHEZI 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2023: 	NOKWANDA DUBE 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2024: 	PHILILE MNQAYI  (CA)</a:t>
            </a:r>
          </a:p>
          <a:p>
            <a:pPr marL="457200" indent="-457200">
              <a:buAutoNum type="arabicPeriod"/>
            </a:pPr>
            <a:endParaRPr lang="en-US" sz="1400" dirty="0" smtClean="0"/>
          </a:p>
          <a:p>
            <a:pPr marL="457200" indent="-457200">
              <a:buAutoNum type="arabicPeriod"/>
            </a:pPr>
            <a:endParaRPr lang="en-US" sz="1600" dirty="0" smtClean="0"/>
          </a:p>
          <a:p>
            <a:pPr marL="457200" indent="-457200">
              <a:buAutoNum type="arabicPeriod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15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76447" y="1201479"/>
            <a:ext cx="9704166" cy="2615610"/>
          </a:xfrm>
        </p:spPr>
        <p:txBody>
          <a:bodyPr/>
          <a:lstStyle/>
          <a:p>
            <a:r>
              <a:rPr lang="en-US" dirty="0" smtClean="0"/>
              <a:t>2024 ANALYSIS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6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CIRCUIT PERFOMANCE 2024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653690"/>
              </p:ext>
            </p:extLst>
          </p:nvPr>
        </p:nvGraphicFramePr>
        <p:xfrm>
          <a:off x="365760" y="1489163"/>
          <a:ext cx="11118028" cy="4608954"/>
        </p:xfrm>
        <a:graphic>
          <a:graphicData uri="http://schemas.openxmlformats.org/drawingml/2006/table">
            <a:tbl>
              <a:tblPr firstRow="1" firstCol="1" bandRow="1"/>
              <a:tblGrid>
                <a:gridCol w="2278982"/>
                <a:gridCol w="1054296"/>
                <a:gridCol w="2365586"/>
                <a:gridCol w="1425388"/>
                <a:gridCol w="1519517"/>
                <a:gridCol w="1331259"/>
                <a:gridCol w="1143000"/>
              </a:tblGrid>
              <a:tr h="7266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ZA" sz="1400" b="1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SCHOOL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BACHELOR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WROTE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ZA" sz="1400" b="1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PASS</a:t>
                      </a:r>
                      <a:r>
                        <a:rPr lang="en-Z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FAILED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3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lang="en-ZA" sz="1400" b="1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Z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QUALITY</a:t>
                      </a:r>
                      <a:r>
                        <a:rPr lang="en-ZA" sz="1400" b="1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RESULTS  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4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NGANGATHI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68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74.7%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91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91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4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NKOMBOSE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104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72%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145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141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97.2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7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MAWOMBE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45.5%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4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THEKELISA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57.9%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4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UMFOLOZI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62.1%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198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4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MGWAZENI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46.4%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125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116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92.8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09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2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 SIYAPHAMBILI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149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57.6%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94.1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05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0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 IKUSASALETHU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66.5%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185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91.9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4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 SIYAQALA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56.5%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62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90.3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4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10.NOMATHIYA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51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27.3%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187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162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86.6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4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11ASIPHIKELELE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26.1%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98.3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442372" y="-127092"/>
            <a:ext cx="16634372" cy="58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PERFOMANCE PER DEPARTMENT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266979"/>
              </p:ext>
            </p:extLst>
          </p:nvPr>
        </p:nvGraphicFramePr>
        <p:xfrm>
          <a:off x="212654" y="1853249"/>
          <a:ext cx="9590566" cy="3907470"/>
        </p:xfrm>
        <a:graphic>
          <a:graphicData uri="http://schemas.openxmlformats.org/drawingml/2006/table">
            <a:tbl>
              <a:tblPr firstRow="1" firstCol="1" bandRow="1"/>
              <a:tblGrid>
                <a:gridCol w="1648067"/>
                <a:gridCol w="1509075"/>
                <a:gridCol w="1548787"/>
                <a:gridCol w="1290655"/>
                <a:gridCol w="1459434"/>
                <a:gridCol w="2134548"/>
              </a:tblGrid>
              <a:tr h="13024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WROTE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PASS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BACHELOR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DISTINCTIONS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2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BCM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2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SERVICES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2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COMMERCE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2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SCIENCE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15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PERFOMANCE RANGE PER SUBJECT 				2024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100%		: 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90 – 99%		: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60 – 90%		: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 10 – 60%		: 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10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CONSISTANT 100% </a:t>
            </a:r>
            <a:r>
              <a:rPr lang="en-Z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en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279" y="1127051"/>
            <a:ext cx="7676707" cy="4231758"/>
          </a:xfrm>
        </p:spPr>
        <p:txBody>
          <a:bodyPr/>
          <a:lstStyle/>
          <a:p>
            <a:pPr marL="514350" indent="-514350">
              <a:buAutoNum type="arabicPeriod"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ISIZULU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 ORIENTATION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TOURISM 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7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FOR THE FIRST TIME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417904"/>
              </p:ext>
            </p:extLst>
          </p:nvPr>
        </p:nvGraphicFramePr>
        <p:xfrm>
          <a:off x="138223" y="1765006"/>
          <a:ext cx="9505507" cy="3260154"/>
        </p:xfrm>
        <a:graphic>
          <a:graphicData uri="http://schemas.openxmlformats.org/drawingml/2006/table">
            <a:tbl>
              <a:tblPr firstRow="1" firstCol="1" bandRow="1"/>
              <a:tblGrid>
                <a:gridCol w="2331820"/>
                <a:gridCol w="1123762"/>
                <a:gridCol w="1828800"/>
                <a:gridCol w="1690576"/>
                <a:gridCol w="2530549"/>
              </a:tblGrid>
              <a:tr h="74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SUBJECT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 PASS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PASS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DISTINCTIONS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93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DRAMA</a:t>
                      </a:r>
                      <a:endParaRPr lang="en-US" sz="3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ZA" sz="3600" b="1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6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sz="3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6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3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93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6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MUSIC</a:t>
                      </a:r>
                      <a:endParaRPr lang="en-US" sz="3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6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6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ZA" sz="3600" b="1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6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en-ZA" sz="3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64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48491"/>
          </a:xfrm>
        </p:spPr>
        <p:txBody>
          <a:bodyPr>
            <a:normAutofit fontScale="9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ZA" sz="3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QUALITY RESULTS LEVEL 3</a:t>
            </a:r>
            <a:br>
              <a:rPr lang="en-ZA" sz="3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3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UPWARDS SUBJECT</a:t>
            </a:r>
            <a:r>
              <a:rPr lang="en-US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892595"/>
            <a:ext cx="8582949" cy="3678866"/>
          </a:xfrm>
        </p:spPr>
        <p:txBody>
          <a:bodyPr/>
          <a:lstStyle/>
          <a:p>
            <a:pPr marL="457200" indent="-457200">
              <a:buAutoNum type="arabicPeriod"/>
            </a:pPr>
            <a:endParaRPr lang="en-US" dirty="0" smtClean="0"/>
          </a:p>
          <a:p>
            <a:pPr marL="457200" indent="-457200">
              <a:buAutoNum type="arabicPeriod"/>
            </a:pPr>
            <a:r>
              <a:rPr lang="en-US" dirty="0" smtClean="0"/>
              <a:t>ISIZULU</a:t>
            </a:r>
          </a:p>
          <a:p>
            <a:pPr marL="457200" indent="-457200">
              <a:buAutoNum type="arabicPeriod"/>
            </a:pPr>
            <a:r>
              <a:rPr lang="en-US" dirty="0" smtClean="0"/>
              <a:t>LO</a:t>
            </a:r>
          </a:p>
          <a:p>
            <a:pPr marL="457200" indent="-457200">
              <a:buAutoNum type="arabicPeriod"/>
            </a:pPr>
            <a:r>
              <a:rPr lang="en-US" dirty="0" smtClean="0"/>
              <a:t>MUSIC</a:t>
            </a:r>
          </a:p>
          <a:p>
            <a:pPr marL="457200" indent="-457200">
              <a:buAutoNum type="arabicPeriod"/>
            </a:pPr>
            <a:r>
              <a:rPr lang="en-US" dirty="0" smtClean="0"/>
              <a:t>DRAMA</a:t>
            </a:r>
          </a:p>
          <a:p>
            <a:pPr marL="457200" indent="-457200">
              <a:buAutoNum type="arabicPeriod"/>
            </a:pPr>
            <a:endParaRPr lang="en-US" dirty="0" smtClean="0"/>
          </a:p>
          <a:p>
            <a:pPr marL="457200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39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 smtClean="0"/>
              <a:t>2024 </a:t>
            </a:r>
            <a:r>
              <a:rPr lang="en-ZA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TOP TEN</a:t>
            </a:r>
            <a:r>
              <a:rPr lang="en-US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 MNQAYI PHILILE</a:t>
            </a:r>
            <a:r>
              <a:rPr lang="en-Z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		: </a:t>
            </a: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662 	BCM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NKOSI MPUMELELO			: 638	HUMANITIES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MOIANE PINKY				: 628	BCM	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 GWAMANDA APHIWE		: 611	SCIENCE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 SHANDU YOLISWA			: 596	HUMANITIES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 MTHEMBU LUYANDA		: 576	BCM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 MTSHALI VUKANI			: 565	BCM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 MTHEMBU MPILO			: 563	ART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 NDOTI AKHONA				: 558	SCIENCE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GUMEDE NOHLELO			: 550	SCIENCE 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73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PERFOMANCE FOR THE PAST 5 YEARS 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24079"/>
              </p:ext>
            </p:extLst>
          </p:nvPr>
        </p:nvGraphicFramePr>
        <p:xfrm>
          <a:off x="574767" y="1881052"/>
          <a:ext cx="9819808" cy="3981864"/>
        </p:xfrm>
        <a:graphic>
          <a:graphicData uri="http://schemas.openxmlformats.org/drawingml/2006/table">
            <a:tbl>
              <a:tblPr firstRow="1" firstCol="1" bandRow="1"/>
              <a:tblGrid>
                <a:gridCol w="1282404"/>
                <a:gridCol w="1378061"/>
                <a:gridCol w="1245537"/>
                <a:gridCol w="1497633"/>
                <a:gridCol w="2493245"/>
                <a:gridCol w="1922928"/>
              </a:tblGrid>
              <a:tr h="11376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 WROTE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 PASS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BACHELORS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DISTINCTIONS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8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164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134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82.2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8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168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139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82.7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 (46)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109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8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167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154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63(41)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8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8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ZA" sz="28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145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141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97,2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104(72)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660741" y="-54492"/>
            <a:ext cx="16852741" cy="511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SUBJECTS TO PRODUCE 100% LEARNER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HISTORY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DRAMA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VISUAL ARTS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 ISIZULU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eriod" startAt="5"/>
            </a:pPr>
            <a:r>
              <a:rPr lang="en-ZA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ENGLISH</a:t>
            </a: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eriod" startAt="5"/>
            </a:pPr>
            <a:r>
              <a:rPr lang="en-ZA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TOURISM </a:t>
            </a:r>
            <a:endParaRPr lang="en-US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11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46111" y="452718"/>
            <a:ext cx="9040149" cy="833822"/>
          </a:xfrm>
        </p:spPr>
        <p:txBody>
          <a:bodyPr/>
          <a:lstStyle/>
          <a:p>
            <a:r>
              <a:rPr lang="en-US" dirty="0" smtClean="0"/>
              <a:t>BCM   DEPARTMENT 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454117"/>
              </p:ext>
            </p:extLst>
          </p:nvPr>
        </p:nvGraphicFramePr>
        <p:xfrm>
          <a:off x="159490" y="1807534"/>
          <a:ext cx="9581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98"/>
                <a:gridCol w="680484"/>
                <a:gridCol w="552893"/>
                <a:gridCol w="818707"/>
                <a:gridCol w="718674"/>
                <a:gridCol w="737031"/>
                <a:gridCol w="737031"/>
                <a:gridCol w="737031"/>
                <a:gridCol w="737031"/>
                <a:gridCol w="737031"/>
                <a:gridCol w="737031"/>
                <a:gridCol w="737031"/>
                <a:gridCol w="737031"/>
              </a:tblGrid>
              <a:tr h="253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SUBJECTS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WROTE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PASS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PASS%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FAIL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FAIL%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3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5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6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7</a:t>
                      </a:r>
                      <a:endParaRPr lang="en-US" sz="1100" dirty="0"/>
                    </a:p>
                  </a:txBody>
                  <a:tcPr/>
                </a:tc>
              </a:tr>
              <a:tr h="253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253840">
                <a:tc>
                  <a:txBody>
                    <a:bodyPr/>
                    <a:lstStyle/>
                    <a:p>
                      <a:r>
                        <a:rPr lang="en-US" dirty="0" smtClean="0"/>
                        <a:t>ACC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08%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253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3840">
                <a:tc>
                  <a:txBody>
                    <a:bodyPr/>
                    <a:lstStyle/>
                    <a:p>
                      <a:r>
                        <a:rPr lang="en-US" dirty="0" smtClean="0"/>
                        <a:t>ECON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100%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253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3840">
                <a:tc>
                  <a:txBody>
                    <a:bodyPr/>
                    <a:lstStyle/>
                    <a:p>
                      <a:r>
                        <a:rPr lang="en-US" dirty="0" smtClean="0"/>
                        <a:t>BSTD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13</a:t>
                      </a:r>
                      <a:endParaRPr lang="en-US" b="1" dirty="0"/>
                    </a:p>
                  </a:txBody>
                  <a:tcPr/>
                </a:tc>
              </a:tr>
              <a:tr h="253840">
                <a:tc gridSpan="13"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                                              </a:t>
                      </a:r>
                      <a:r>
                        <a:rPr lang="en-US" sz="5400" b="1" dirty="0" smtClean="0"/>
                        <a:t>95.66%</a:t>
                      </a:r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24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Services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796965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71"/>
                <a:gridCol w="892040"/>
                <a:gridCol w="930271"/>
                <a:gridCol w="637171"/>
                <a:gridCol w="641927"/>
                <a:gridCol w="872836"/>
                <a:gridCol w="872836"/>
                <a:gridCol w="872836"/>
                <a:gridCol w="872836"/>
                <a:gridCol w="872836"/>
                <a:gridCol w="87283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Subjects 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WROTE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PASS %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FAIL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 marL="98124" marR="98124"/>
                </a:tc>
              </a:tr>
              <a:tr h="4147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TRSM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marL="98124" marR="98124"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GEOG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49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98124" marR="98124"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HISTORY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49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6</a:t>
                      </a:r>
                      <a:endParaRPr lang="en-US" b="1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15</a:t>
                      </a:r>
                      <a:endParaRPr lang="en-US" b="1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14</a:t>
                      </a:r>
                      <a:endParaRPr lang="en-US" b="1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13</a:t>
                      </a:r>
                      <a:endParaRPr lang="en-US" b="1" dirty="0"/>
                    </a:p>
                  </a:txBody>
                  <a:tcPr marL="98124" marR="98124"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8124" marR="9812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LO 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145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22</a:t>
                      </a:r>
                      <a:endParaRPr lang="en-US" b="1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40</a:t>
                      </a:r>
                      <a:endParaRPr lang="en-US" b="1" dirty="0"/>
                    </a:p>
                  </a:txBody>
                  <a:tcPr marL="98124" marR="98124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80</a:t>
                      </a:r>
                      <a:endParaRPr lang="en-US" b="1" dirty="0"/>
                    </a:p>
                  </a:txBody>
                  <a:tcPr marL="98124" marR="98124"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8124" marR="98124"/>
                </a:tc>
                <a:tc gridSpan="10"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sz="4000" dirty="0" smtClean="0"/>
                        <a:t>            100%</a:t>
                      </a:r>
                    </a:p>
                    <a:p>
                      <a:endParaRPr lang="en-US" dirty="0"/>
                    </a:p>
                  </a:txBody>
                  <a:tcPr marL="98124" marR="98124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6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 		SCIENCE 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7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309</TotalTime>
  <Words>659</Words>
  <Application>Microsoft Office PowerPoint</Application>
  <PresentationFormat>Widescreen</PresentationFormat>
  <Paragraphs>664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Garamond</vt:lpstr>
      <vt:lpstr>Times New Roman</vt:lpstr>
      <vt:lpstr>Organic</vt:lpstr>
      <vt:lpstr>              Result analysis </vt:lpstr>
      <vt:lpstr>SCHOOL PERFOMANCE SINCE 2012</vt:lpstr>
      <vt:lpstr>SUBJECT PERFORMANCE SINCE 2012 </vt:lpstr>
      <vt:lpstr>SUBJECT PERFORMANCE </vt:lpstr>
      <vt:lpstr>TOP LEARNERS SINCE 2012</vt:lpstr>
      <vt:lpstr>2024 ANALYSIS</vt:lpstr>
      <vt:lpstr>CIRCUIT PERFOMANCE 2024</vt:lpstr>
      <vt:lpstr>PERFOMANCE PER DEPARTMENT</vt:lpstr>
      <vt:lpstr>PERFOMANCE RANGE PER SUBJECT     2024</vt:lpstr>
      <vt:lpstr>CONSISTANT 100% PASS   </vt:lpstr>
      <vt:lpstr>PRESENTING FOR THE FIRST TIME </vt:lpstr>
      <vt:lpstr>QUALITY RESULTS LEVEL 3  UPWARDS SUBJECT </vt:lpstr>
      <vt:lpstr>2024  TOP TEN </vt:lpstr>
      <vt:lpstr>PERFOMANCE FOR THE PAST 5 YEARS </vt:lpstr>
      <vt:lpstr>SUBJECTS TO PRODUCE 100% LEARNER </vt:lpstr>
      <vt:lpstr>BCM   DEPARTMENT </vt:lpstr>
      <vt:lpstr>                Services </vt:lpstr>
      <vt:lpstr>   SCIENCE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 analysis</dc:title>
  <dc:creator>Microsoft account</dc:creator>
  <cp:lastModifiedBy>Microsoft account</cp:lastModifiedBy>
  <cp:revision>28</cp:revision>
  <dcterms:created xsi:type="dcterms:W3CDTF">2025-02-11T07:44:09Z</dcterms:created>
  <dcterms:modified xsi:type="dcterms:W3CDTF">2025-02-11T16:21:33Z</dcterms:modified>
</cp:coreProperties>
</file>